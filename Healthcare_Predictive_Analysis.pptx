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7" r:id="rId9"/>
    <p:sldId id="264" r:id="rId10"/>
    <p:sldId id="265" r:id="rId11"/>
    <p:sldId id="266" r:id="rId12"/>
    <p:sldId id="268" r:id="rId13"/>
    <p:sldId id="269" r:id="rId14"/>
    <p:sldId id="270" r:id="rId15"/>
    <p:sldId id="272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EAC3E0-2CFB-49B0-B8EB-C4DA84FC0570}" v="1" dt="2026-06-17T08:56:36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il Taneja" userId="d52c18fed0e67a09" providerId="LiveId" clId="{0037DB3E-BA72-4222-AE43-2E5164208FD3}"/>
    <pc:docChg chg="delSld modSld">
      <pc:chgData name="Somil Taneja" userId="d52c18fed0e67a09" providerId="LiveId" clId="{0037DB3E-BA72-4222-AE43-2E5164208FD3}" dt="2026-06-17T08:56:51.808" v="2" actId="2696"/>
      <pc:docMkLst>
        <pc:docMk/>
      </pc:docMkLst>
      <pc:sldChg chg="del">
        <pc:chgData name="Somil Taneja" userId="d52c18fed0e67a09" providerId="LiveId" clId="{0037DB3E-BA72-4222-AE43-2E5164208FD3}" dt="2026-06-17T08:54:03.595" v="0" actId="2696"/>
        <pc:sldMkLst>
          <pc:docMk/>
          <pc:sldMk cId="2552930398" sldId="256"/>
        </pc:sldMkLst>
      </pc:sldChg>
      <pc:sldChg chg="delSp">
        <pc:chgData name="Somil Taneja" userId="d52c18fed0e67a09" providerId="LiveId" clId="{0037DB3E-BA72-4222-AE43-2E5164208FD3}" dt="2026-06-17T08:56:36.295" v="1" actId="21"/>
        <pc:sldMkLst>
          <pc:docMk/>
          <pc:sldMk cId="733719213" sldId="270"/>
        </pc:sldMkLst>
        <pc:spChg chg="del">
          <ac:chgData name="Somil Taneja" userId="d52c18fed0e67a09" providerId="LiveId" clId="{0037DB3E-BA72-4222-AE43-2E5164208FD3}" dt="2026-06-17T08:56:36.295" v="1" actId="21"/>
          <ac:spMkLst>
            <pc:docMk/>
            <pc:sldMk cId="733719213" sldId="270"/>
            <ac:spMk id="4" creationId="{3D7205DF-EA33-846B-ACFF-D15D25DFF8F8}"/>
          </ac:spMkLst>
        </pc:spChg>
      </pc:sldChg>
      <pc:sldChg chg="del">
        <pc:chgData name="Somil Taneja" userId="d52c18fed0e67a09" providerId="LiveId" clId="{0037DB3E-BA72-4222-AE43-2E5164208FD3}" dt="2026-06-17T08:56:51.808" v="2" actId="2696"/>
        <pc:sldMkLst>
          <pc:docMk/>
          <pc:sldMk cId="3364236564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F46D7-58EB-1FA8-3B93-A573315DD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D6FF7C-B70F-6763-7014-CB3D78D66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7E164-FDBB-1461-BE9E-E5D861DC6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7E6FD-DC4A-4AE7-ADCC-D187D380E5B8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8EE1A-70CE-823A-6960-4FA20560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BD0F0-D961-A764-EBCF-1C694F1CE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8556-22D9-4850-B325-B2E86D292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457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75671-EAA2-1DC5-4E96-86E0D641E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6444C-5DF9-E38F-0AAC-5A44D4494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D6D0C-421E-676F-0B19-37958848F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7E6FD-DC4A-4AE7-ADCC-D187D380E5B8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58841-D007-089F-6540-DD0082508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B0DE8-57A5-C0C0-B544-F7F03978E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8556-22D9-4850-B325-B2E86D292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337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C452-3903-4EEF-BAAC-FC794BE11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D3A7D-3DAD-5A38-63CC-20B3224AA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5579B-7BB8-000B-FE56-8464361BA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7E6FD-DC4A-4AE7-ADCC-D187D380E5B8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6AE26-BA6F-6FD6-9029-941F8B13D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689E7-6027-F7DC-9D52-165089CBB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8556-22D9-4850-B325-B2E86D292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402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2901C-49AC-862E-7117-E5B17CBA4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5B3B1-AE86-C1EB-7E31-FF2478B712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34F1E-9093-61FA-7980-F69AC05FF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C51DC-E4A1-2FAB-7038-74E1A2345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7E6FD-DC4A-4AE7-ADCC-D187D380E5B8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426B6-1B4C-0870-8FEF-7522DB3C5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30E56-5295-453C-9556-6AB69F8D4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8556-22D9-4850-B325-B2E86D292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514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45B33-9F7D-F4DE-FEB8-300CAF1D0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B3C71-5112-19B9-72FC-E6079CF23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D7FB2D-5950-170F-67DB-BE6FAF08B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9EF3F4-7ABC-4D8F-9251-72FDF12317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3D7A15-4315-F1D1-E8FA-9F58D6943E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284E77-63C9-8D94-C339-E475D2E3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7E6FD-DC4A-4AE7-ADCC-D187D380E5B8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C4CFE8-F67F-4E13-3DC6-777875CBE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AF5A4E-CA0B-E390-0199-A73B5438A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8556-22D9-4850-B325-B2E86D292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90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6331C-36F1-A76F-7382-6E131F101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48BA9-26E8-11B6-AE81-6CDFD520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7E6FD-DC4A-4AE7-ADCC-D187D380E5B8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9CDDAD-E9A4-B28A-0B55-7F96DF62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B7C1E-06C3-1F67-2762-9C0AFBCA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8556-22D9-4850-B325-B2E86D292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28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F62640-8438-BBD6-0CCF-4E6CCB34D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7E6FD-DC4A-4AE7-ADCC-D187D380E5B8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781040-C722-59C8-3B73-18D91249F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4F4A8-0180-AD13-5033-9D39F6DE3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8556-22D9-4850-B325-B2E86D292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60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B6ECF-4C83-40B4-EEC0-BCDDE0040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337F7-677E-D848-B55B-CE02ED6E6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06A61-025B-E5B3-345F-CE9B602F1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71C3D-E8AF-01C1-DA9E-E17805699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7E6FD-DC4A-4AE7-ADCC-D187D380E5B8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F0C99-5A15-5A29-5607-0EA7F272B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5FAC7-C93C-FA1F-F7FF-A0FFD3FD4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8556-22D9-4850-B325-B2E86D292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688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8579D-CD44-FAE3-DF75-C4F04FCE3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2F6274-8CCC-85B4-A785-233B4CC82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18999D-1120-DD40-2A45-B8B80E2DD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39C10-0177-77B9-6C70-995FF8CF2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7E6FD-DC4A-4AE7-ADCC-D187D380E5B8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F5710-EA4B-6864-7E05-981BC5E9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D6E1A-A166-1D00-B6CF-F897F0CC2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8556-22D9-4850-B325-B2E86D292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551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F72E-37BD-3780-8A03-520264CAB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1C41DD-4A2D-45D2-764D-7AFD4EC76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01254-36BD-F449-649C-C40176A9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7E6FD-DC4A-4AE7-ADCC-D187D380E5B8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34CF5-3A51-083A-86EC-0AA4A58A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F1FBC-CD43-6EF5-1DEC-B5CEF34BE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8556-22D9-4850-B325-B2E86D292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940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40BB03-D84A-7CB6-085A-65BAF83833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90C39-3F45-11E8-AB5A-0DF55BD62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A1F1D-E547-5886-64B8-4A33EED8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7E6FD-DC4A-4AE7-ADCC-D187D380E5B8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62875-FAF0-9FCA-E7CB-3F7C5C27A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DCD1A-FCFC-269D-77A1-63693ADC2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8556-22D9-4850-B325-B2E86D292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887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98CB34-EADE-1008-BEFC-A41D2428F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F6CEB-878E-0FC6-DB1F-3B1C29FE1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82F43-72FE-BBA1-53F3-70B8B5A7BA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7E6FD-DC4A-4AE7-ADCC-D187D380E5B8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A6852-21FA-6BF6-300C-B55478BF4F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40FAA-D5A8-741D-5828-E914B879E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48556-22D9-4850-B325-B2E86D292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02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14FD67-6B75-61AB-0C81-2C4E48117155}"/>
              </a:ext>
            </a:extLst>
          </p:cNvPr>
          <p:cNvSpPr txBox="1"/>
          <p:nvPr/>
        </p:nvSpPr>
        <p:spPr>
          <a:xfrm>
            <a:off x="0" y="0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Problem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Content: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Hospitals face </a:t>
            </a:r>
            <a:r>
              <a:rPr lang="en-US" sz="2400" b="1" dirty="0"/>
              <a:t>high readmission rates</a:t>
            </a:r>
            <a:r>
              <a:rPr lang="en-US" sz="2400" dirty="0"/>
              <a:t>, increasing cost and reducing patient care quality.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Goal: Predict </a:t>
            </a:r>
            <a:r>
              <a:rPr lang="en-US" sz="2400" b="1" dirty="0"/>
              <a:t>which patients are likely to be readmitted</a:t>
            </a:r>
            <a:r>
              <a:rPr lang="en-US" sz="2400" dirty="0"/>
              <a:t> and analyze patterns.</a:t>
            </a:r>
          </a:p>
        </p:txBody>
      </p:sp>
    </p:spTree>
    <p:extLst>
      <p:ext uri="{BB962C8B-B14F-4D97-AF65-F5344CB8AC3E}">
        <p14:creationId xmlns:p14="http://schemas.microsoft.com/office/powerpoint/2010/main" val="1241867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C846B4-2F8B-EED4-760D-C2E0063B44B1}"/>
              </a:ext>
            </a:extLst>
          </p:cNvPr>
          <p:cNvSpPr txBox="1"/>
          <p:nvPr/>
        </p:nvSpPr>
        <p:spPr>
          <a:xfrm>
            <a:off x="0" y="0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Predict patient readmissions using historical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Analyze </a:t>
            </a:r>
            <a:r>
              <a:rPr lang="en-US" sz="2400" b="1" dirty="0"/>
              <a:t>cost, length of stay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Build </a:t>
            </a:r>
            <a:r>
              <a:rPr lang="en-US" sz="2400" b="1" dirty="0"/>
              <a:t>interactive dashboards</a:t>
            </a:r>
            <a:r>
              <a:rPr lang="en-US" sz="2400" dirty="0"/>
              <a:t> for hospital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Store and retrieve data efficiently using </a:t>
            </a:r>
            <a:r>
              <a:rPr lang="en-US" sz="2400" b="1" dirty="0"/>
              <a:t>Azure + MySQL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51565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4DDF7D-43D8-A4E0-0539-77047AC96AD7}"/>
              </a:ext>
            </a:extLst>
          </p:cNvPr>
          <p:cNvSpPr txBox="1"/>
          <p:nvPr/>
        </p:nvSpPr>
        <p:spPr>
          <a:xfrm>
            <a:off x="0" y="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Data 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Hospital Admissions CSV:</a:t>
            </a:r>
            <a:r>
              <a:rPr lang="en-IN" sz="2400" dirty="0"/>
              <a:t> Generated via Python (age, stay length, tests, cost, previous admissions, readmission)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Database:</a:t>
            </a:r>
            <a:r>
              <a:rPr lang="en-IN" sz="2400" dirty="0"/>
              <a:t> MySQL (centralized storage)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Cloud Storage:</a:t>
            </a:r>
            <a:r>
              <a:rPr lang="en-IN" sz="2400" dirty="0"/>
              <a:t> Azure Blob Storage (secure storage &amp; integration)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Power BI Dashboard:</a:t>
            </a:r>
            <a:r>
              <a:rPr lang="en-IN" sz="2400" dirty="0"/>
              <a:t> For visualization &amp; decision-making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71A8A1-3A72-CA56-15C6-1B546C8CB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1679"/>
            <a:ext cx="4762052" cy="317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92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9E3C51-02B4-1D89-218F-DE1FC5076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098"/>
            <a:ext cx="10596362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Data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/ Clean Dataset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hospital_admissions.csv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Selection → age,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length_of_stay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num_lab_tests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total_cost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prev_admissions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Train-Test Split →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test_size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=0.2,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random_state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=42, stratify=y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 → Imputer + Scaler +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RandomForestClassifier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Predictions → Actual vs Predicted + Readmission Probability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importance shows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Length of Stay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Previous Admissions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most predictive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 importance bar chart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8DF928-B600-92B9-AB1D-3FD6C2FCC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4" y="3234813"/>
            <a:ext cx="5072462" cy="362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26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620B732-88B5-A3AD-71D3-3A5D6C6C7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60835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E7B58D-62B9-1F0A-F448-5C5EAA67AD6A}"/>
              </a:ext>
            </a:extLst>
          </p:cNvPr>
          <p:cNvSpPr txBox="1"/>
          <p:nvPr/>
        </p:nvSpPr>
        <p:spPr>
          <a:xfrm>
            <a:off x="9768990" y="165002"/>
            <a:ext cx="2914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Script.py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A9DA3E-2912-6E15-FCD7-3DF7410802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990" y="1406576"/>
            <a:ext cx="1968602" cy="174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662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1D00C5-27F0-E063-8C25-D7059F43B98B}"/>
              </a:ext>
            </a:extLst>
          </p:cNvPr>
          <p:cNvSpPr txBox="1"/>
          <p:nvPr/>
        </p:nvSpPr>
        <p:spPr>
          <a:xfrm>
            <a:off x="0" y="0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ML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Metrics: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ROC-AUC → Model discrimination power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Confusion Matrix → True Positive / False Positive insights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Classification Report → Precision, Recall, F1-Score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Insight:</a:t>
            </a:r>
            <a:r>
              <a:rPr lang="en-IN" sz="2000" dirty="0"/>
              <a:t> 30% patients predicted likely readmission → helps hospital focus resources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Visual:</a:t>
            </a:r>
            <a:r>
              <a:rPr lang="en-IN" sz="2000" dirty="0"/>
              <a:t> Confusion Matrix heatmap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A8777F-233A-42C8-D36E-1719C3747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923" y="2148812"/>
            <a:ext cx="8436077" cy="470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66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87E72F-9C3D-A3C6-5DE5-1C6D56386983}"/>
              </a:ext>
            </a:extLst>
          </p:cNvPr>
          <p:cNvSpPr txBox="1"/>
          <p:nvPr/>
        </p:nvSpPr>
        <p:spPr>
          <a:xfrm>
            <a:off x="-68826" y="0"/>
            <a:ext cx="6096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SQL &amp; MySQL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Queries: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Average Length of Stay per Patient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Readmission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Cost Analysis (Length of Stay vs Total Cost)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Gender-wise Readmission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Monthly Admissions Trend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Insight: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Readmission higher in patients with longer stay or frequent previous admissions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A93DF1-31AC-7D03-71B1-A964F9546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216" y="2581076"/>
            <a:ext cx="5734784" cy="42769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5BC101-8047-0EB3-7A77-EB9806199B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536" y="79088"/>
            <a:ext cx="5734784" cy="23765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7E042E-ECD5-2EF6-A602-0086000F8B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07" y="4108129"/>
            <a:ext cx="4599088" cy="27498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FCBA9C-0A1B-60D6-6332-DA52A904A1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410" y="3056077"/>
            <a:ext cx="2031590" cy="152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3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7F9040-4931-A734-E8DD-40D066E80FC6}"/>
              </a:ext>
            </a:extLst>
          </p:cNvPr>
          <p:cNvSpPr txBox="1"/>
          <p:nvPr/>
        </p:nvSpPr>
        <p:spPr>
          <a:xfrm>
            <a:off x="68826" y="0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Azure Blob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Content: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Python CSV uploaded to Azure Blob Storage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Enables secure cloud access for dashboards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Integrated with Power BI for live updates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Insight:</a:t>
            </a:r>
            <a:r>
              <a:rPr lang="en-IN" sz="2000" dirty="0"/>
              <a:t> Cloud storage ensures </a:t>
            </a:r>
            <a:r>
              <a:rPr lang="en-IN" sz="2000" b="1" dirty="0"/>
              <a:t>scalable, central, and secure dataset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24988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2809A6-D788-BE49-4304-0A7D86FEE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615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E2EC43-6358-E537-1CA8-BE4BAA22C413}"/>
              </a:ext>
            </a:extLst>
          </p:cNvPr>
          <p:cNvSpPr txBox="1"/>
          <p:nvPr/>
        </p:nvSpPr>
        <p:spPr>
          <a:xfrm>
            <a:off x="0" y="0"/>
            <a:ext cx="60960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Power BI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Visuals Included: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KPI Cards → Total Patients, Total Readmissions, </a:t>
            </a:r>
            <a:r>
              <a:rPr lang="en-IN" sz="2000" dirty="0" err="1"/>
              <a:t>Avg</a:t>
            </a:r>
            <a:r>
              <a:rPr lang="en-IN" sz="2000" dirty="0"/>
              <a:t> Length of Stay, Readmission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Pie/Donut → Readmission vs No Readmission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Bar Chart → Readmission by Gender / Top 5 Costly Diagnoses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Line Chart → Monthly Admission Trends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Table → Patient-level Predictions (Actual vs Predicted + Probability)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Insight: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Management can </a:t>
            </a:r>
            <a:r>
              <a:rPr lang="en-IN" sz="2000" b="1" dirty="0"/>
              <a:t>identify high-risk patients and allocate resources proactively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42112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2007E2-07CC-1B35-01BE-F7DD15DD47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294"/>
            <a:ext cx="12192000" cy="67534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ABC313-5066-9B69-7062-38AD05AE4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145458"/>
            <a:ext cx="1887794" cy="106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201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420DEE-4DB9-3028-A480-5268E317F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63"/>
            <a:ext cx="12192000" cy="682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999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434C67-8C60-ACEF-2046-EF9CF2638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162"/>
            <a:ext cx="12192000" cy="663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722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554851-C1D1-C3C9-FFF2-2C9529B3C8EC}"/>
              </a:ext>
            </a:extLst>
          </p:cNvPr>
          <p:cNvSpPr txBox="1"/>
          <p:nvPr/>
        </p:nvSpPr>
        <p:spPr>
          <a:xfrm>
            <a:off x="0" y="74871"/>
            <a:ext cx="6096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Readmission risk higher for patients with </a:t>
            </a:r>
            <a:r>
              <a:rPr lang="en-US" sz="2000" b="1" dirty="0"/>
              <a:t>longer stays and previous admissions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Gender distribution</a:t>
            </a:r>
            <a:r>
              <a:rPr lang="en-US" sz="2000" dirty="0"/>
              <a:t> shows small differences in readmission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Cost correlates with length of stay → enables cost optimization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Interactive dashboards help </a:t>
            </a:r>
            <a:r>
              <a:rPr lang="en-US" sz="2000" b="1" dirty="0"/>
              <a:t>real-time decision making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33719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4B7703-095F-9231-F291-C627489F0F26}"/>
              </a:ext>
            </a:extLst>
          </p:cNvPr>
          <p:cNvSpPr txBox="1"/>
          <p:nvPr/>
        </p:nvSpPr>
        <p:spPr>
          <a:xfrm>
            <a:off x="0" y="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References /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Python: Pandas, </a:t>
            </a:r>
            <a:r>
              <a:rPr lang="en-IN" sz="2000" dirty="0" err="1"/>
              <a:t>Numpy</a:t>
            </a:r>
            <a:r>
              <a:rPr lang="en-IN" sz="2000" dirty="0"/>
              <a:t>, Scikit-learn, Matplotlib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SQL: MySQL Workbench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Cloud: Azure Blob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BI: Power BI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Dataset: Synthetic Healthcare Data</a:t>
            </a:r>
          </a:p>
        </p:txBody>
      </p:sp>
    </p:spTree>
    <p:extLst>
      <p:ext uri="{BB962C8B-B14F-4D97-AF65-F5344CB8AC3E}">
        <p14:creationId xmlns:p14="http://schemas.microsoft.com/office/powerpoint/2010/main" val="1078752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D8FE76-0C45-4D8D-7188-76D08F801F89}"/>
              </a:ext>
            </a:extLst>
          </p:cNvPr>
          <p:cNvSpPr txBox="1"/>
          <p:nvPr/>
        </p:nvSpPr>
        <p:spPr>
          <a:xfrm>
            <a:off x="0" y="0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Built </a:t>
            </a:r>
            <a:r>
              <a:rPr lang="en-US" sz="2000" b="1" dirty="0"/>
              <a:t>predictive model</a:t>
            </a:r>
            <a:r>
              <a:rPr lang="en-US" sz="2000" dirty="0"/>
              <a:t> + </a:t>
            </a:r>
            <a:r>
              <a:rPr lang="en-US" sz="2000" b="1" dirty="0"/>
              <a:t>dashboard</a:t>
            </a:r>
            <a:r>
              <a:rPr lang="en-US" sz="2000" dirty="0"/>
              <a:t> for hospital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Enables </a:t>
            </a:r>
            <a:r>
              <a:rPr lang="en-US" sz="2000" b="1" dirty="0"/>
              <a:t>better patient care and resource optimization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Ready to extend for real-world healthcare deployment</a:t>
            </a:r>
          </a:p>
        </p:txBody>
      </p:sp>
    </p:spTree>
    <p:extLst>
      <p:ext uri="{BB962C8B-B14F-4D97-AF65-F5344CB8AC3E}">
        <p14:creationId xmlns:p14="http://schemas.microsoft.com/office/powerpoint/2010/main" val="3369948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489</Words>
  <Application>Microsoft Office PowerPoint</Application>
  <PresentationFormat>Widescreen</PresentationFormat>
  <Paragraphs>71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Unicode MS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Tanmay Sharma</dc:creator>
  <cp:lastModifiedBy>Somil Taneja</cp:lastModifiedBy>
  <cp:revision>1</cp:revision>
  <dcterms:created xsi:type="dcterms:W3CDTF">2025-08-27T11:50:25Z</dcterms:created>
  <dcterms:modified xsi:type="dcterms:W3CDTF">2026-06-17T08:56:56Z</dcterms:modified>
</cp:coreProperties>
</file>